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28016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4400" b="1">
                <a:solidFill>
                  <a:srgbClr val="FFFFFF"/>
                </a:solidFill>
                <a:latin typeface="Arial"/>
              </a:defRPr>
            </a:pPr>
            <a:r>
              <a:t>SmartShop</a:t>
            </a:r>
          </a:p>
          <a:p>
            <a:pPr>
              <a:spcBef>
                <a:spcPts val="800"/>
              </a:spcBef>
              <a:defRPr sz="1700">
                <a:solidFill>
                  <a:srgbClr val="94A3B8"/>
                </a:solidFill>
                <a:latin typeface="Arial"/>
              </a:defRPr>
            </a:pPr>
            <a:r>
              <a:t>A Fullstack Digital Shop Management, POS Billing &amp; Customer Khata Ledger Platform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4297680"/>
            <a:ext cx="10362895" cy="16459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4480560"/>
            <a:ext cx="981425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Submitted By:  Ajit Kumar (Roll No: 2504280140008)     |      Course: Master of Computer Applications (MCA 3rd Sem)</a:t>
            </a:r>
          </a:p>
          <a:p>
            <a:pPr>
              <a:spcBef>
                <a:spcPts val="600"/>
              </a:spcBef>
              <a:defRPr sz="1250">
                <a:solidFill>
                  <a:srgbClr val="CBD5E1"/>
                </a:solidFill>
                <a:latin typeface="Arial"/>
              </a:defRPr>
            </a:pPr>
            <a:r>
              <a:t>Guided By:  Faculty Project Guide / Project Coordinator</a:t>
            </a:r>
          </a:p>
          <a:p>
            <a:pPr>
              <a:spcBef>
                <a:spcPts val="500"/>
              </a:spcBef>
              <a:defRPr sz="1200">
                <a:solidFill>
                  <a:srgbClr val="0284C7"/>
                </a:solidFill>
                <a:latin typeface="Arial"/>
              </a:defRPr>
            </a:pPr>
            <a:r>
              <a:t>Academic Session: 2026 – 2027                 |      Tech Stack: MERN Stack (MongoDB, Express, React 19, Node.js)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Project Overview &amp; Key Highlights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What is SmartShop?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 cloud-based web application tailored for neighborhood retail stores, supermarkets, and provision shops.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Solves the real-world problem of customers not knowing item availability by letting them check live stock from home.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Integrates high-speed Point-of-Sale (POS) counter billing with a digital Customer Credit Ledger ('Khata').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Replaces physical paper notebooks with real-time cloud data storage and automatic calculations.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Core Value Delivered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Home Stock Availability: Customers browse categories, prices, and stock indicators before visiting the shop.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Multi-Mode POS Billing: Supports Cash, UPI, Credit (Khata), and Partial payment combinations.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Transparent Customer Ledger: 24/7 self-service portal to view itemized bills and settle pending dues.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Automated Returns &amp; Restocking: Full and partial product returns automatically adjust inventory and debt.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Problem Statement &amp; Real-World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EF2F2"/>
          </a:solidFill>
          <a:ln w="12700">
            <a:solidFill>
              <a:srgbClr val="FCA5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B91C1C"/>
                </a:solidFill>
                <a:latin typeface="Arial"/>
              </a:defRPr>
            </a:pPr>
            <a:r>
              <a:t>1. Customer Inconvenience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Customers walk to the shop only to find essential grocery items out of stock.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No quick way to verify current item prices or stock levels from home.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Wasted physical trips and poor customer shopping experience.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6634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DE6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B45309"/>
                </a:solidFill>
                <a:latin typeface="Arial"/>
              </a:defRPr>
            </a:pPr>
            <a:r>
              <a:t>2. Paper Khata Limitations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Handwritten arithmetic errors during daily ledger tallying.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Physical register damage, torn pages, or ink fading.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Frequent arguments with customers over old unverified dues.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No payment proof or timestamp audit trail.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663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6A34A"/>
                </a:solidFill>
                <a:latin typeface="Arial"/>
              </a:defRPr>
            </a:pPr>
            <a:r>
              <a:t>3. The SmartShop Solution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Live Catalog &amp; Stock check from home on mobile/PC.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Fast POS counter billing with multi-payment modes.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Automated digital ledger with borrow limits and due dates.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Admin payment verification queue with screenshot proofs.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Project Objectives &amp; Scope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Primary Functional Objectives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Live Product Catalog: Allow customers to browse inventory and verify stock availability from home.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Fast POS Counter Billing: Enable shopkeepers to create bills in seconds via Cash, UPI, Credit, or Partial splits.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Digital Credit Ledger ('Khata'): Maintain customer debt balances, repayment due dates, and borrow limits.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Payment Claims Verification: Admin dashboard to review and approve customer Cash/UPI payment proofs.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Product Returns Management: Restock returned items and deduct customer debt atomically.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Technical &amp; Non-Functional Scope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MERN Architecture: Modular React 19 frontend and asynchronous Node.js / Express.js REST backend.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ACID Reliability: Multi-document write operations protected with MongoDB transaction rollbacks.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Cloud Storage: Cloudinary CDN integration for product images and receipt screenshot storage.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Online Gateway: Razorpay API integration for instant online credit clearance.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Responsive Layout: Tailored glassmorphism UI for Mobile, Tablet, and Desktop screens.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Technology Stack &amp;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2103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Frontend UI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React 19 (Component UI)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Vite (Build Tool)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TailwindCSS (Styling)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Lucide React (Icons)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Responsive Glass UI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55448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0" y="1737360"/>
            <a:ext cx="2103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Backend API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Node.js (Runtime)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Express.js (REST API)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ESM Modules Structure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Multer (Uploads)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Security Middleware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5448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2103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Database &amp; Cloud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MongoDB (Document DB)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Mongoose (ORM)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Cloudinary (Image CDN)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ACID Transactions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Atomic $inc Operators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554480"/>
            <a:ext cx="24688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1737360"/>
            <a:ext cx="21031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Auth &amp; Payments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JWT (Token Auth)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Bcrypt.js (Hashing)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Single-Use Reset Tokens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Razorpay Payment API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RBAC Role Middleware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3-Tier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1. Presentation Tier (Client)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Customer Portal: Browse stock from home, view bills, and submit payments.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Admin POS Portal: Point-of-sale billing, returns, customers, stock, and logs.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Universal Responsiveness: Adapts seamlessly to Mobile, Tablet, and Desktop screens.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2. Application Tier (Server)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REST API Routes: /users, /products, /sales, /credits, /payments, /returns.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Auth &amp; Role Middleware: Validates JWT tokens and enforces permissions.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Transaction Manager: Coordinates atomic multi-document writes.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3. Database &amp; Cloud Tier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MongoDB Database: Persists 7 core collections with relational ObjectId links.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Cloudinary CDN: Optimized cloud storage for product and receipt images.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Razorpay Gateway: Secure payment checkout and webhook verification.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Core Module: POS Billing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POS Counter Billing Features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Fast Catalog Search: Instant product selection with live price and stock display.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Mixed Cart Support: Handles catalog products and custom walk-in items simultaneously.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Flexible Settlement Modes: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100% Cash: Instant clearance and cash drawer record.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100% UPI: Fast digital QR code collection.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100% Credit (Khata): Automatically adds to customer's credit ledger.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Partial Split: E.g., Pay ₹300 cash, balance ₹700 added to credit ledger.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Stock &amp; Credit Safeguards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Atomic Stock Deduction: Decrements product stock using {$gte: qty} to prevent negative stock.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Auto Availability Toggle: Automatically marks items 'Out of Stock' when stock reaches 0.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Borrow Limit Enforcement: Validates customer debt ceiling before approving credit sales.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ACID Transaction: Stock deduction, sale record, and credit creation succeed together or rollback.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Core Module: Digital Credit Ledger ('Khata')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Ledger Mechanics &amp; Tracking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Customer Credit Ledger: Tracks total borrowed, paid amount, and net pending balance.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Due Date Timeline: Configurable repayment deadlines for each credit entry.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Credit Statuses: 'Active', 'Partially Paid', 'Paid', and 'Overdue'.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Historical Invoice Link: Every credit record links directly to its original sale invoice.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Trust Score &amp; Risk Control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Customer Trust Rating: Computed based on repayment punctuality and history.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 Borrow Limits: Shopkeeper can set maximum credit limit for individual customers.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FIFO Debt Reduction: Payments automatically settle the oldest active credit first.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Customer Transparency: Customers see exact real-time balance on their own mobile devices.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Core Module: Product Returns &amp; Balance Adjustment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Return Processing Modes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Full Sale Return: Returns all items from an invoice, restores inventory, and clears credit.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Partial Item Return: Shopkeeper selects specific returned item and quantity.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Return Reasons Tracking: Captures reason (Damaged, Expired, Wrong Item, Customer Change).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Admin Accountability: Records which admin authorized the return.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Automated Balance Correction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Automatic Stock Restoration: Returned item quantities are restored back into product inventory.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Ledger Debt Offset: If sale was on Credit, return amount automatically subtracts from customer's debt.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Cash Refund Calculation: For fully paid sales, calculates direct refund payout to the customer.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Transactional Integrity: Inventory restock and debt offset execute in an atomic transaction.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Core Module: Payments &amp; Claims Verification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Customer Payment Options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Cash Payment Claim: Customer submits a claim specifying the store clerk who received physical cash.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UPI Proof Upload: Customer enters UPI UTR Transaction ID and uploads payment screenshot.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Razorpay Gateway: Instant online clearance via UPI, Debit/Credit Card, or Netbanking.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Real-Time Statuses: Displays 'Pending Verification', 'Approved', or 'Rejected'.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Admin Verification Dashboard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Verification Queue: Lists all pending customer claims awaiting admin review.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Screenshot Preview: Admins inspect uploaded receipt images stored on Cloudinary.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One-Click Approve / Reject: Approving immediately decreases customer debt via atomic $inc.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Audit Trail: Saves timestamps, verifying admin details, and remarks.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Database Design (7 Core Collections)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User &amp; Customer Collections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D1: Users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name, username, email, phone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password (bcrypt hash)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role: 'customer'|'admin'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resetPasswordToken &amp; Expire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D2: Customers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userId (ref: User)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pendingAmount, totalPurchase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trustScore, manualBorrowLimit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Product &amp; Sales Collections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D3: Products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name, category, price, stock, unit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imageUrl (Cloudinary CDN)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available &amp; deleted flags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D4: Sales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customerId, adminId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items: [{ productId, qty, price, total }]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paymentType: cash|upi|credit|partial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paidAmount, pendingAmount, creditId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Khata, Payment &amp; Returns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D5: Credits Collection (Khata)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customerId, userId, saleId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borrowedAmount, paidAmount, pending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dueDate, extensionCount, status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D6: Payments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creditId, amount, method, status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transactionId, paymentProof, verifiedBy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D7: Returns Collection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  • saleId, items, refundAmount, processedBy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Security &amp; Transactional Reliability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0FDF4"/>
          </a:solidFill>
          <a:ln w="127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6A34A"/>
                </a:solidFill>
                <a:latin typeface="Arial"/>
              </a:defRPr>
            </a:pPr>
            <a:r>
              <a:t>Database Atomicity (ACID Rollbacks)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Multi-Document Transactions: Wrapped in session.withTransaction() so errors trigger complete rollback.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Zero Corrupted Ledgers: If balance update fails, sale and payment records are rolled back automatically.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Atomic Math Operators: Uses MongoDB $inc for debt increments/decrements to avoid concurrency races.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Stock Availability Locks: Conditional updates ensure stock never drops below 0 during peak billing.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Authentication &amp; Network Security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Stateless JWT Tokens: Secure JSON Web Tokens with cryptographically signed payloads.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Single-Use Password Reset Tokens: Reset tokens are invalidated immediately upon first use in DB.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Security Response Headers: Hardened with nosniff, frameguard (X-Frame-Options), and XSS filters.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Environment Isolation: All API keys, Cloudinary secrets, and DB URLs strictly shielded via .env.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Key Advantages &amp; Project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For Shopkeepers (Admins)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Over 80% faster counter billing compared to manual paper slips.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Zero revenue loss from forgotten or disputed credit balances.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Live inventory tracking with out-of-stock indicators.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Full audit trail of all staff activities.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For Retail Customers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Browse catalog &amp; stock availability from home before visiting store.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24/7 access to personal purchase history and khata dues.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Flexible payment settlement (Cash, UPI, Online Gateway).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Total transparency on item prices, discounts, and payments.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554480"/>
            <a:ext cx="33832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Technical Strengths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100% Web-Based; works seamlessly on any modern device.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Zero proprietary hardware requirements.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Scalable MERN stack architecture.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Production-ready stability (0 build errors).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Arial"/>
              </a:defRPr>
            </a:pPr>
            <a:r>
              <a:t>MCA 3RD SEMESTER MINI PROJECT PRESENTATION</a:t>
            </a:r>
          </a:p>
          <a:p>
            <a:pPr>
              <a:defRPr sz="2300" b="1">
                <a:solidFill>
                  <a:srgbClr val="1E3A8A"/>
                </a:solidFill>
                <a:latin typeface="Arial"/>
              </a:defRPr>
            </a:pPr>
            <a:r>
              <a:t>Future Roadmap &amp; Project 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25880"/>
            <a:ext cx="10728655" cy="18288"/>
          </a:xfrm>
          <a:prstGeom prst="rect">
            <a:avLst/>
          </a:prstGeom>
          <a:solidFill>
            <a:srgbClr val="CBD5E1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554480"/>
            <a:ext cx="512064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475488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Future Scope (Planned Enhancements)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OTP-Based Customer Login: Passwordless login via SMS/Email OTP for faster customer access.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OTP-Based Password Reset: Time-sensitive OTP verification for secure forgot password recovery.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WhatsApp / SMS Bill &amp; Due Alerts: Automated notifications for new bills and upcoming khata due dates.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Thermal POS Receipt Printing: Direct USB/Bluetooth printer support for instant billing slips.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737360"/>
            <a:ext cx="4846320" cy="4297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800"/>
              </a:spcAft>
              <a:defRPr sz="1450" b="1">
                <a:solidFill>
                  <a:srgbClr val="1E3A8A"/>
                </a:solidFill>
                <a:latin typeface="Arial"/>
              </a:defRPr>
            </a:pPr>
            <a:r>
              <a:t>Conclusion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SmartShop successfully bridges the gap between traditional retail credit management and modern web technology.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Replaces fragile paper ledgers with an ACID-compliant, transparent digital ledger platform.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Successfully fulfills all functional requirements for an MCA 3rd Semester Mini Project.</a:t>
            </a:r>
          </a:p>
          <a:p>
            <a:pPr>
              <a:spcAft>
                <a:spcPts val="500"/>
              </a:spcAft>
              <a:defRPr sz="1150">
                <a:solidFill>
                  <a:srgbClr val="0F172A"/>
                </a:solidFill>
                <a:latin typeface="Arial"/>
              </a:defRPr>
            </a:pPr>
            <a:r>
              <a:t>•  Demonstrates practical fullstack engineering with React 19, Node.js, Express, and MongoDB.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Arial"/>
              </a:defRPr>
            </a:pPr>
            <a:r>
              <a:t>Thank You!</a:t>
            </a:r>
          </a:p>
          <a:p>
            <a:pPr algn="ctr">
              <a:spcBef>
                <a:spcPts val="1200"/>
              </a:spcBef>
              <a:defRPr sz="2200">
                <a:solidFill>
                  <a:srgbClr val="0284C7"/>
                </a:solidFill>
                <a:latin typeface="Arial"/>
              </a:defRPr>
            </a:pPr>
            <a:r>
              <a:t>Questions &amp; Answers (Q&amp;A)</a:t>
            </a:r>
          </a:p>
          <a:p>
            <a:pPr algn="ctr">
              <a:spcBef>
                <a:spcPts val="2400"/>
              </a:spcBef>
              <a:defRPr sz="1400">
                <a:solidFill>
                  <a:srgbClr val="94A3B8"/>
                </a:solidFill>
                <a:latin typeface="Arial"/>
              </a:defRPr>
            </a:pPr>
            <a:r>
              <a:t>SmartShop — Digital Shop Management, POS &amp; Khata Ledger Platform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